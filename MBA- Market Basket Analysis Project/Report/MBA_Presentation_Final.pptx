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628"/>
                </a:solidFill>
                <a:latin typeface="Arial"/>
              </a:rPr>
              <a:t>Confidence Score by Rule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%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3D-4A89-9DBC-3FF0A10914B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13D-4A89-9DBC-3FF0A10914B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13D-4A89-9DBC-3FF0A10914BA}"/>
              </c:ext>
            </c:extLst>
          </c:dPt>
          <c:dPt>
            <c:idx val="3"/>
            <c:invertIfNegative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3D-4A89-9DBC-3FF0A10914BA}"/>
              </c:ext>
            </c:extLst>
          </c:dPt>
          <c:dPt>
            <c:idx val="4"/>
            <c:invertIfNegative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3D-4A89-9DBC-3FF0A10914BA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13D-4A89-9DBC-3FF0A10914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Furniture→Appliances</c:v>
                </c:pt>
                <c:pt idx="1">
                  <c:v>Appl+Comp→Electronics</c:v>
                </c:pt>
                <c:pt idx="2">
                  <c:v>Elec+Comp→Appliances</c:v>
                </c:pt>
                <c:pt idx="3">
                  <c:v>Appl+Elec→Computers</c:v>
                </c:pt>
                <c:pt idx="4">
                  <c:v>Computers→Appl+Elec</c:v>
                </c:pt>
                <c:pt idx="5">
                  <c:v>Appliances→Furniture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67.599999999999994</c:v>
                </c:pt>
                <c:pt idx="1">
                  <c:v>66.099999999999994</c:v>
                </c:pt>
                <c:pt idx="2">
                  <c:v>54.6</c:v>
                </c:pt>
                <c:pt idx="3">
                  <c:v>37.6</c:v>
                </c:pt>
                <c:pt idx="4">
                  <c:v>27.4</c:v>
                </c:pt>
                <c:pt idx="5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13D-4A89-9DBC-3FF0A10914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47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5799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2286000" cy="292608"/>
          </a:xfrm>
          <a:prstGeom prst="rect">
            <a:avLst/>
          </a:prstGeom>
          <a:solidFill>
            <a:srgbClr val="00C2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3017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FE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E-Commerce Purchase Pattern Discovery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3749040"/>
            <a:ext cx="1737360" cy="86868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1737360" cy="5486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822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4224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FE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3784310"/>
            <a:ext cx="1737360" cy="86868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31720" y="3749040"/>
            <a:ext cx="1737360" cy="5486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3822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91,619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331720" y="4224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FE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Analyzed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3749040"/>
            <a:ext cx="1737360" cy="86868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43400" y="3749040"/>
            <a:ext cx="1737360" cy="5486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43400" y="3822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343400" y="4224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FE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617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 Shakib  ·  Personal Project  · 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Apriori Algorithm  ·  Python  ·  Pandas  ·  MLxtend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Market Basket Analysis?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4864" cy="77724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data mining technique that discovers which products customers buy TOGETHER — enabling smarter cross-selling, product placement, and promotions.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606040" cy="2560320"/>
          </a:xfrm>
          <a:prstGeom prst="rect">
            <a:avLst/>
          </a:prstGeom>
          <a:solidFill>
            <a:srgbClr val="EBF8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606040" cy="7315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1993392"/>
            <a:ext cx="594360" cy="59436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1993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Finds hidden co-purchase relationships across millions of transactions that humans cannot spot manually.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54680" y="1874520"/>
            <a:ext cx="2606040" cy="2560320"/>
          </a:xfrm>
          <a:prstGeom prst="rect">
            <a:avLst/>
          </a:prstGeom>
          <a:solidFill>
            <a:srgbClr val="FFF8F0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874520"/>
            <a:ext cx="260604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0520" y="1993392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0520" y="1993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27432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PROOF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Support, Confidence &amp; Lift scores quantify relationship strength — not guesswork, pure mathematics.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2606040" cy="2560320"/>
          </a:xfrm>
          <a:prstGeom prst="rect">
            <a:avLst/>
          </a:prstGeom>
          <a:solidFill>
            <a:srgbClr val="F0FDF9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60604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0880" y="1993392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993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27432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2004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Translates raw data into revenue-driving strategies: bundling, layout, email campaigns &amp; inventory.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63600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Example: Amazon's  "Customers who bought this also bought"  — powered entirely by Market Basket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3474720" cy="43205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Store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28600" y="2560320"/>
            <a:ext cx="301752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2560320"/>
            <a:ext cx="4572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5968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2,600,000+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Records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127248"/>
            <a:ext cx="301752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3127248"/>
            <a:ext cx="4572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163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1,500,000+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74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Cleaning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694176"/>
            <a:ext cx="301752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4572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9410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Size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4261104"/>
            <a:ext cx="301752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4261104"/>
            <a:ext cx="4572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507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914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03320" y="1325880"/>
            <a:ext cx="141732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03320" y="13258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1325880"/>
            <a:ext cx="22402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0" y="1325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60920" y="1325880"/>
            <a:ext cx="150876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60920" y="13258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03320" y="1673352"/>
            <a:ext cx="141732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67328" y="17282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1673352"/>
            <a:ext cx="224028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84648" y="172821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Timestamp of transaction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60920" y="1673352"/>
            <a:ext cx="150876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24928" y="172821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2019-10-01 00:00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03320" y="2057400"/>
            <a:ext cx="14173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67328" y="211226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2057400"/>
            <a:ext cx="22402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84648" y="21122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 order identifier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60920" y="2057400"/>
            <a:ext cx="150876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24928" y="21122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2297989017720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03320" y="2441448"/>
            <a:ext cx="141732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67328" y="24963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20640" y="2441448"/>
            <a:ext cx="224028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184648" y="2496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 product identifier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360920" y="2441448"/>
            <a:ext cx="150876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24928" y="24963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1005115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03320" y="2825496"/>
            <a:ext cx="14173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767328" y="2880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category_code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0640" y="2825496"/>
            <a:ext cx="22402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84648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Hierarchical category path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360920" y="2825496"/>
            <a:ext cx="150876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24928" y="2880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electronics.smartphone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703320" y="3209544"/>
            <a:ext cx="141732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767328" y="32644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20640" y="3209544"/>
            <a:ext cx="224028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184648" y="32644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brand name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360920" y="3209544"/>
            <a:ext cx="150876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424928" y="32644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samsung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703320" y="3593592"/>
            <a:ext cx="14173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767328" y="36484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20640" y="3593592"/>
            <a:ext cx="22402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184648" y="3648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price (USD)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360920" y="3593592"/>
            <a:ext cx="150876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24928" y="36484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$489.07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703320" y="3977640"/>
            <a:ext cx="141732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767328" y="40325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120640" y="3977640"/>
            <a:ext cx="224028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184648" y="403250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 customer identifier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360920" y="3977640"/>
            <a:ext cx="1508760" cy="374904"/>
          </a:xfrm>
          <a:prstGeom prst="rect">
            <a:avLst/>
          </a:prstGeom>
          <a:solidFill>
            <a:srgbClr val="EEF4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424928" y="40325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512328014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2203704"/>
            <a:ext cx="7311281" cy="6400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C2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88720" cy="1005840"/>
          </a:xfrm>
          <a:prstGeom prst="rect">
            <a:avLst/>
          </a:prstGeom>
          <a:solidFill>
            <a:srgbClr val="EBF8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1188720" cy="640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9784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" y="1389888"/>
            <a:ext cx="1271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Downloaded kz.csv from Kaggle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2.6M records · 53MB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8408" y="1874520"/>
            <a:ext cx="36576" cy="1371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21408" y="2011680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2140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47088" y="2651760"/>
            <a:ext cx="1234440" cy="1088136"/>
          </a:xfrm>
          <a:prstGeom prst="rect">
            <a:avLst/>
          </a:prstGeom>
          <a:solidFill>
            <a:srgbClr val="FFF8F0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47088" y="2651760"/>
            <a:ext cx="1188720" cy="640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92808" y="27614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17296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Removed nulls &amp; zero-price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rows → 1.5M clean records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40865" y="2459736"/>
            <a:ext cx="45719" cy="2011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11296" y="2011680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1129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69049" y="868680"/>
            <a:ext cx="1362456" cy="1005840"/>
          </a:xfrm>
          <a:prstGeom prst="rect">
            <a:avLst/>
          </a:prstGeom>
          <a:solidFill>
            <a:srgbClr val="F0FDF9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36976" y="868680"/>
            <a:ext cx="118872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82696" y="9784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69049" y="1395113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Extracted main category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category_code path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58184" y="1874520"/>
            <a:ext cx="36576" cy="1371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01184" y="2011680"/>
            <a:ext cx="457200" cy="457200"/>
          </a:xfrm>
          <a:prstGeom prst="ellipse">
            <a:avLst/>
          </a:prstGeom>
          <a:solidFill>
            <a:srgbClr val="A78B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01184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2651760"/>
            <a:ext cx="1234440" cy="1088136"/>
          </a:xfrm>
          <a:prstGeom prst="rect">
            <a:avLst/>
          </a:prstGeom>
          <a:solidFill>
            <a:srgbClr val="F5F3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26864" y="2651760"/>
            <a:ext cx="118872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72584" y="27614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54296" y="317296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91,619 users × 13 categories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Boolean purchase matrix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02352" y="2487168"/>
            <a:ext cx="45719" cy="16459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91072" y="2011680"/>
            <a:ext cx="457200" cy="457200"/>
          </a:xfrm>
          <a:prstGeom prst="ellipse">
            <a:avLst/>
          </a:prstGeom>
          <a:solidFill>
            <a:srgbClr val="F43F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910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6752" y="868680"/>
            <a:ext cx="1188720" cy="1005840"/>
          </a:xfrm>
          <a:prstGeom prst="rect">
            <a:avLst/>
          </a:prstGeom>
          <a:solidFill>
            <a:srgbClr val="FFF1F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16752" y="868680"/>
            <a:ext cx="1188720" cy="6400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62472" y="9784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44184" y="138988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min_support=0.05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min_lift=1.0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37960" y="1874520"/>
            <a:ext cx="36576" cy="1371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80960" y="2011680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680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2651760"/>
            <a:ext cx="1188720" cy="1005840"/>
          </a:xfrm>
          <a:prstGeom prst="rect">
            <a:avLst/>
          </a:prstGeom>
          <a:solidFill>
            <a:srgbClr val="FFF8F0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406640" y="2651760"/>
            <a:ext cx="1188720" cy="640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52360" y="27614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34072" y="317296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rules → Actionable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27847" y="2459736"/>
            <a:ext cx="45719" cy="19202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526280"/>
            <a:ext cx="8595360" cy="420624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Python 3.13   ·   Pandas   ·   MLxtend   ·   Matplotlib   ·   Jupyter Notebook   ·   Kaggle Dataset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Discovered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 Found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286000" cy="402336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9611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(Antecedent)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896112"/>
            <a:ext cx="2286000" cy="402336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89611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(Consequent)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896112"/>
            <a:ext cx="914400" cy="402336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89611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896112"/>
            <a:ext cx="1051560" cy="402336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89611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896112"/>
            <a:ext cx="685800" cy="402336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8961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896112"/>
            <a:ext cx="1097280" cy="402336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43800" y="89611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0" y="1298448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15184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1298448"/>
            <a:ext cx="9144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1184" y="1371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1298448"/>
            <a:ext cx="105156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15584" y="13716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1298448"/>
            <a:ext cx="6858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7144" y="1371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1362456"/>
            <a:ext cx="914400" cy="310896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9520" y="13624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737360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1737360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15184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1737360"/>
            <a:ext cx="9144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01184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1737360"/>
            <a:ext cx="105156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15584" y="18105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12280" y="1737360"/>
            <a:ext cx="6858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67144" y="18105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89520" y="1801368"/>
            <a:ext cx="914400" cy="310896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89520" y="18013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176272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9184" y="22494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+ Electronics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560320" y="2176272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15184" y="22494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46320" y="2176272"/>
            <a:ext cx="9144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01184" y="22494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7.97%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60720" y="2176272"/>
            <a:ext cx="105156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15584" y="22494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12280" y="2176272"/>
            <a:ext cx="6858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67144" y="22494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89520" y="2240280"/>
            <a:ext cx="914400" cy="310896"/>
          </a:xfrm>
          <a:prstGeom prst="rect">
            <a:avLst/>
          </a:prstGeom>
          <a:solidFill>
            <a:srgbClr val="0C2040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589520" y="224028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2615184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9184" y="2688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560320" y="2615184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15184" y="2688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+ Electronics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46320" y="2615184"/>
            <a:ext cx="9144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01184" y="26883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7.97%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760720" y="2615184"/>
            <a:ext cx="105156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15584" y="268833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812280" y="2615184"/>
            <a:ext cx="6858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67144" y="268833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589520" y="2679192"/>
            <a:ext cx="914400" cy="310896"/>
          </a:xfrm>
          <a:prstGeom prst="rect">
            <a:avLst/>
          </a:prstGeom>
          <a:solidFill>
            <a:srgbClr val="0C2040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89520" y="2679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3054096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9184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560320" y="3054096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615184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+ Computers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846320" y="3054096"/>
            <a:ext cx="9144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901184" y="3127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7.97%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760720" y="3054096"/>
            <a:ext cx="105156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815584" y="31272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812280" y="3054096"/>
            <a:ext cx="6858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67144" y="31272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589520" y="3118104"/>
            <a:ext cx="914400" cy="310896"/>
          </a:xfrm>
          <a:prstGeom prst="rect">
            <a:avLst/>
          </a:prstGeom>
          <a:solidFill>
            <a:srgbClr val="3B1E0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589520" y="31181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3493008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29184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+ Computers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560320" y="3493008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615184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846320" y="3493008"/>
            <a:ext cx="9144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901184" y="3566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7.97%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760720" y="3493008"/>
            <a:ext cx="105156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815584" y="3566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54.6%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812280" y="3493008"/>
            <a:ext cx="6858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867144" y="3566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7589520" y="3557016"/>
            <a:ext cx="914400" cy="310896"/>
          </a:xfrm>
          <a:prstGeom prst="rect">
            <a:avLst/>
          </a:prstGeom>
          <a:solidFill>
            <a:srgbClr val="3B1E0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589520" y="35570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4320" y="3931920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29184" y="4005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+ Computers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2560320" y="3931920"/>
            <a:ext cx="22860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615184" y="4005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4846320" y="3931920"/>
            <a:ext cx="9144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901184" y="4005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7.97%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5760720" y="3931920"/>
            <a:ext cx="105156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815584" y="40050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66.1%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6812280" y="3931920"/>
            <a:ext cx="68580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867144" y="40050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7589520" y="3995928"/>
            <a:ext cx="914400" cy="310896"/>
          </a:xfrm>
          <a:prstGeom prst="rect">
            <a:avLst/>
          </a:prstGeom>
          <a:solidFill>
            <a:srgbClr val="3B1E0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589520" y="399592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74320" y="4370832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329184" y="44439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2560320" y="4370832"/>
            <a:ext cx="22860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2615184" y="44439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+ Computers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4846320" y="4370832"/>
            <a:ext cx="9144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901184" y="4443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7.97%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5760720" y="4370832"/>
            <a:ext cx="105156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815584" y="444398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6812280" y="4370832"/>
            <a:ext cx="685800" cy="420624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867144" y="44439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7589520" y="4434840"/>
            <a:ext cx="914400" cy="310896"/>
          </a:xfrm>
          <a:prstGeom prst="rect">
            <a:avLst/>
          </a:prstGeom>
          <a:solidFill>
            <a:srgbClr val="3B1E0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589520" y="44348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Metrics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06040" cy="3977640"/>
          </a:xfrm>
          <a:prstGeom prst="rect">
            <a:avLst/>
          </a:prstGeom>
          <a:solidFill>
            <a:srgbClr val="EBF8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606040" cy="9144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536192"/>
            <a:ext cx="1691640" cy="84124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users who bought BOTH categories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30906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5.36% of 91,619 users = ~4,900 users bought both Furniture AND Appliances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233172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85876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= (Both) / (Total Users)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2606040" cy="3977640"/>
          </a:xfrm>
          <a:prstGeom prst="rect">
            <a:avLst/>
          </a:prstGeom>
          <a:solidFill>
            <a:srgbClr val="FFF8F0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914400"/>
            <a:ext cx="2606040" cy="91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64408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1536192"/>
            <a:ext cx="1691640" cy="84124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1536192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264408" y="2514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buying Y given X was bought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64408" y="30906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67.6% of Furniture buyers ALSO buy Appliances — strongest rule found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858768"/>
            <a:ext cx="233172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85876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= (Both) / (Antecedent)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606040" cy="3977640"/>
          </a:xfrm>
          <a:prstGeom prst="rect">
            <a:avLst/>
          </a:prstGeom>
          <a:solidFill>
            <a:srgbClr val="F0FDF9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914400"/>
            <a:ext cx="26060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1536192"/>
            <a:ext cx="1691640" cy="8412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1536192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1.46x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144768" y="2514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likely than random chance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44768" y="30906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Furniture+Appliances are 46% MORE likely bought together than independently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858768"/>
            <a:ext cx="233172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385876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= Confidence / Expected Confidence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Insights — Visual Analysis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96112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32688"/>
            <a:ext cx="3108960" cy="896112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60720" y="932688"/>
            <a:ext cx="73152" cy="89611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042416"/>
            <a:ext cx="914400" cy="64008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0424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49440" y="98755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Furniture buyers also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buy Appliances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49440" y="1499616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Highest Confidence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1956816"/>
            <a:ext cx="3108960" cy="896112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60720" y="1956816"/>
            <a:ext cx="73152" cy="89611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0" y="2066544"/>
            <a:ext cx="914400" cy="6400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0" y="206654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1.46x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49440" y="201168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Lift — 46% more likely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 random chance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49440" y="252374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Strongest Lift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2980944"/>
            <a:ext cx="3108960" cy="896112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2980944"/>
            <a:ext cx="73152" cy="8961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43600" y="3090672"/>
            <a:ext cx="9144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0" y="30906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49440" y="303580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association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rules discovered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49440" y="354787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Rules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60720" y="4005072"/>
            <a:ext cx="3108960" cy="896112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60720" y="4005072"/>
            <a:ext cx="73152" cy="89611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43600" y="4114800"/>
            <a:ext cx="914400" cy="6400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4360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91K+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949440" y="405993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 users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analysis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49440" y="45720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Analyzed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874520"/>
          </a:xfrm>
          <a:prstGeom prst="rect">
            <a:avLst/>
          </a:prstGeom>
          <a:solidFill>
            <a:srgbClr val="EBF8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60520" cy="7315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69848"/>
            <a:ext cx="475488" cy="47548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Promotions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1682496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636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Furniture + Appliance packages at 5-10% discount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2048256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0025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Targets the 67.6% co-purchase probability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2414016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682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Increases average order value significantly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932688"/>
            <a:ext cx="4160520" cy="1874520"/>
          </a:xfrm>
          <a:prstGeom prst="rect">
            <a:avLst/>
          </a:prstGeom>
          <a:solidFill>
            <a:srgbClr val="FFF8F0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932688"/>
            <a:ext cx="416052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069848"/>
            <a:ext cx="475488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22392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0328" y="168249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1636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Auto-show appliances when user views furniture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10328" y="204825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20025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Amazon-style 'Customers also bought' widget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241401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23682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cross-sell triggers on product pages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2990088"/>
            <a:ext cx="4160520" cy="1874520"/>
          </a:xfrm>
          <a:prstGeom prst="rect">
            <a:avLst/>
          </a:prstGeom>
          <a:solidFill>
            <a:srgbClr val="F0FDF9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990088"/>
            <a:ext cx="416052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3127248"/>
            <a:ext cx="475488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Layout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" y="373989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36941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Place appliances adjacent to furniture section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" y="410565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0599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 'Home Office' combined category page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" y="44714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425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Electronics + Computers + Appliances cluster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09160" y="2990088"/>
            <a:ext cx="4160520" cy="1874520"/>
          </a:xfrm>
          <a:prstGeom prst="rect">
            <a:avLst/>
          </a:prstGeom>
          <a:solidFill>
            <a:srgbClr val="F5F3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2990088"/>
            <a:ext cx="4160520" cy="7315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3127248"/>
            <a:ext cx="475488" cy="47548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22392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Campaigns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10328" y="3739896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74920" y="36941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 appliances higher during furniture peaks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910328" y="4105656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40599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Joint seasonal promotions: 'Home Setup Sale'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910328" y="4471416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74920" y="4425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Targeted email: furniture buyers → appliance offer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4A2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Impact: Even 10% conversion of non-purchasing furniture buyers → ~3,000 additional appliance sales per cohort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E5799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6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6400800" cy="713232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54864" cy="71323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280160" cy="47548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91,619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analyzed across 13 product categories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6400800" cy="713232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956816"/>
            <a:ext cx="54864" cy="7132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075688"/>
            <a:ext cx="128016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756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21214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association rules extracted via Apriori algorithm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20040" y="2798064"/>
            <a:ext cx="6400800" cy="713232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798064"/>
            <a:ext cx="54864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916936"/>
            <a:ext cx="1280160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91693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29626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highest Lift — Furniture &amp; Appliances co-purchase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0040" y="3639312"/>
            <a:ext cx="6400800" cy="713232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639312"/>
            <a:ext cx="54864" cy="71323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3758184"/>
            <a:ext cx="1280160" cy="47548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75818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20240" y="38039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Confidence — strongest cross-sell opportunity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0040" y="4553712"/>
            <a:ext cx="6400800" cy="43891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55371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Analyst turns raw data into business decisions.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700</Words>
  <Application>Microsoft Office PowerPoint</Application>
  <PresentationFormat>On-screen Show (16:9)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Basket Analysis</dc:title>
  <dc:subject>PptxGenJS Presentation</dc:subject>
  <dc:creator>PptxGenJS</dc:creator>
  <cp:lastModifiedBy>KAZI SHAKIB</cp:lastModifiedBy>
  <cp:revision>2</cp:revision>
  <dcterms:created xsi:type="dcterms:W3CDTF">2026-03-08T11:23:06Z</dcterms:created>
  <dcterms:modified xsi:type="dcterms:W3CDTF">2026-03-08T11:26:52Z</dcterms:modified>
</cp:coreProperties>
</file>